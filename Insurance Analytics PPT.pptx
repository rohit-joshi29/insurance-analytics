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89" r:id="rId2"/>
  </p:sldMasterIdLst>
  <p:sldIdLst>
    <p:sldId id="256" r:id="rId3"/>
    <p:sldId id="257" r:id="rId4"/>
    <p:sldId id="258" r:id="rId5"/>
    <p:sldId id="259" r:id="rId6"/>
    <p:sldId id="260" r:id="rId7"/>
    <p:sldId id="261" r:id="rId8"/>
    <p:sldId id="262" r:id="rId9"/>
    <p:sldId id="263" r:id="rId10"/>
    <p:sldId id="267" r:id="rId11"/>
    <p:sldId id="268" r:id="rId12"/>
    <p:sldId id="269" r:id="rId13"/>
    <p:sldId id="266" r:id="rId14"/>
    <p:sldId id="264" r:id="rId15"/>
    <p:sldId id="265"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96181-1731-B72C-C557-594647676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323C26-CF90-E46E-EA61-D87017F1C1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D274D49-9EE1-F9C7-7BEC-79A3CB2CB8FB}"/>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a:extLst>
              <a:ext uri="{FF2B5EF4-FFF2-40B4-BE49-F238E27FC236}">
                <a16:creationId xmlns:a16="http://schemas.microsoft.com/office/drawing/2014/main" id="{87365039-4AB3-8243-1221-CBFCC129EB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96807D-5EF4-8C53-5FB2-4E562E806FEF}"/>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1594774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849D-CF6F-4D21-8279-7B62AA7332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A33127-DBF6-37AF-2656-B6B3158CDE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79F72F-2147-2F50-87F6-907A643C0DC6}"/>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a:extLst>
              <a:ext uri="{FF2B5EF4-FFF2-40B4-BE49-F238E27FC236}">
                <a16:creationId xmlns:a16="http://schemas.microsoft.com/office/drawing/2014/main" id="{0F2C421B-E860-AAEB-CF5D-2DB4B4B400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8141FA-5EE4-E7DB-184E-7692289B40FD}"/>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408102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2A75-F1F4-4F4C-E05F-1426585B13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29D5477-31F7-4B8B-9F9A-24ED6996BE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AC4E65-07D7-2CB0-BBAB-5DC69DCA3C56}"/>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a:extLst>
              <a:ext uri="{FF2B5EF4-FFF2-40B4-BE49-F238E27FC236}">
                <a16:creationId xmlns:a16="http://schemas.microsoft.com/office/drawing/2014/main" id="{2E4010D6-083F-0956-137D-7238965ECE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7D3DC3-5A6D-8321-C72E-E709AA45B250}"/>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4247420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8B95-F3CD-3307-D400-FBD1DE5288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B58EB8-48C8-CE5E-C79F-1CB852DDB1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B559CE-188E-2D09-2BF4-3F5B6956ED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F0237E-CB7B-2C37-AE26-E9AC499E2017}"/>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6" name="Footer Placeholder 5">
            <a:extLst>
              <a:ext uri="{FF2B5EF4-FFF2-40B4-BE49-F238E27FC236}">
                <a16:creationId xmlns:a16="http://schemas.microsoft.com/office/drawing/2014/main" id="{DF1D33EE-023C-3D46-4DDD-25202B9D28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229793-08BD-14B7-EB7B-94B2DA3CD531}"/>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95974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1E69-9209-4015-3081-AEF5D6B5C2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8BC212-EBFC-874A-5F80-730B8CA462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F009A4-C6E6-2AFA-929A-367B1E6124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2CEF62-3A12-55A9-CA06-90CE84F69E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FD018E-237B-E2B2-B4C9-007E67E751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A753550-1161-2D62-F879-82C697FBC7E0}"/>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8" name="Footer Placeholder 7">
            <a:extLst>
              <a:ext uri="{FF2B5EF4-FFF2-40B4-BE49-F238E27FC236}">
                <a16:creationId xmlns:a16="http://schemas.microsoft.com/office/drawing/2014/main" id="{1F02EF54-59C5-6EDF-F37A-588F0B7365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77F004-687F-9483-3071-29CFEE26D4A7}"/>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060175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1E5B9-36C4-8E35-F6C7-842A66A76D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11A6C6-3EDD-E2F3-C8BD-7884659B2136}"/>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4" name="Footer Placeholder 3">
            <a:extLst>
              <a:ext uri="{FF2B5EF4-FFF2-40B4-BE49-F238E27FC236}">
                <a16:creationId xmlns:a16="http://schemas.microsoft.com/office/drawing/2014/main" id="{4283CCB2-154F-A6BA-7A5C-7FA5CDB136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ADAE66-7304-B930-C74D-74CEB901BCCE}"/>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2537988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B70FB0-E71A-11F4-E6E4-94B1E3851330}"/>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3" name="Footer Placeholder 2">
            <a:extLst>
              <a:ext uri="{FF2B5EF4-FFF2-40B4-BE49-F238E27FC236}">
                <a16:creationId xmlns:a16="http://schemas.microsoft.com/office/drawing/2014/main" id="{1C59FE5D-9D35-A4E6-AF0F-D827AD72A9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416242-7694-848D-FFF8-6D910E25555A}"/>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21461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50F10-9D96-8742-EBDE-2F5BD276DB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123162-F2AC-2904-CCAB-7FD20E4B5E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714095-046F-7BC2-48C1-506FCADAC7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D3BF68-2E5A-CD4A-6EBC-DB129F041B89}"/>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6" name="Footer Placeholder 5">
            <a:extLst>
              <a:ext uri="{FF2B5EF4-FFF2-40B4-BE49-F238E27FC236}">
                <a16:creationId xmlns:a16="http://schemas.microsoft.com/office/drawing/2014/main" id="{B9026B2F-D313-B193-F22B-DC699F3E02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901DD1-611F-61E4-7022-3B0C30927EC7}"/>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1202308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B0AD7-C870-7920-4ED9-79AF338F67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52F7CA9-8EA9-3E75-E0A4-8AC80AB0A2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D1DC91-CFB9-DA0E-1696-BA1C9016AD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8513A4-B537-A74D-CC79-1923C4037E8E}"/>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6" name="Footer Placeholder 5">
            <a:extLst>
              <a:ext uri="{FF2B5EF4-FFF2-40B4-BE49-F238E27FC236}">
                <a16:creationId xmlns:a16="http://schemas.microsoft.com/office/drawing/2014/main" id="{1D859DFB-1E38-6ED4-0DFD-FE6E4689A5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B49E7C-9379-6874-6270-783C57F75CE7}"/>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548785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7970D-FA66-55DE-8002-8E1204854B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93306E-506C-09A4-37E8-38334CCD06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A9A7A9-4D87-3738-2695-409DB50FF6B8}"/>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a:extLst>
              <a:ext uri="{FF2B5EF4-FFF2-40B4-BE49-F238E27FC236}">
                <a16:creationId xmlns:a16="http://schemas.microsoft.com/office/drawing/2014/main" id="{0971D655-39E4-632E-10BA-4B57A2AAD6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D80D28-CD9F-0C62-5B90-90BA0FFEF6DB}"/>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4012044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A18A54-DEAE-4717-81B6-DEBCA5A542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822276-B6F3-99FC-7B72-5F311A8C3C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373418-DFCE-F131-9350-EA29B3A849BE}"/>
              </a:ext>
            </a:extLst>
          </p:cNvPr>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a:extLst>
              <a:ext uri="{FF2B5EF4-FFF2-40B4-BE49-F238E27FC236}">
                <a16:creationId xmlns:a16="http://schemas.microsoft.com/office/drawing/2014/main" id="{25BE6D93-1642-A56A-2222-18753CE884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AF1F49-4195-923D-24C0-FEF36B985B34}"/>
              </a:ext>
            </a:extLst>
          </p:cNvPr>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732879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042413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293624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1737164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52394D-7790-4796-9019-E839AD0F7536}"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166076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52394D-7790-4796-9019-E839AD0F7536}" type="datetimeFigureOut">
              <a:rPr lang="en-IN" smtClean="0"/>
              <a:t>28-08-2025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1831976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52394D-7790-4796-9019-E839AD0F7536}"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6698824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52394D-7790-4796-9019-E839AD0F7536}" type="datetimeFigureOut">
              <a:rPr lang="en-IN" smtClean="0"/>
              <a:t>28-08-2025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5613581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52394D-7790-4796-9019-E839AD0F7536}"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1256573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52394D-7790-4796-9019-E839AD0F7536}"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4851413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8655565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352810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38263690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811921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2786349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12680180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52394D-7790-4796-9019-E839AD0F7536}"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13E065-5FA8-4BF0-AEA1-74081FCB5CE3}" type="slidenum">
              <a:rPr lang="en-IN" smtClean="0"/>
              <a:t>‹#›</a:t>
            </a:fld>
            <a:endParaRPr lang="en-IN"/>
          </a:p>
        </p:txBody>
      </p:sp>
    </p:spTree>
    <p:extLst>
      <p:ext uri="{BB962C8B-B14F-4D97-AF65-F5344CB8AC3E}">
        <p14:creationId xmlns:p14="http://schemas.microsoft.com/office/powerpoint/2010/main" val="4159856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B42732-0789-B735-CFD0-0F7EB1EB34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605B8D-2C96-DE93-D9F5-FFFB8C3FB8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2EC9B3-9796-782C-9E02-647FFF469D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52394D-7790-4796-9019-E839AD0F7536}" type="datetimeFigureOut">
              <a:rPr lang="en-IN" smtClean="0"/>
              <a:t>28-08-2025</a:t>
            </a:fld>
            <a:endParaRPr lang="en-IN"/>
          </a:p>
        </p:txBody>
      </p:sp>
      <p:sp>
        <p:nvSpPr>
          <p:cNvPr id="5" name="Footer Placeholder 4">
            <a:extLst>
              <a:ext uri="{FF2B5EF4-FFF2-40B4-BE49-F238E27FC236}">
                <a16:creationId xmlns:a16="http://schemas.microsoft.com/office/drawing/2014/main" id="{7555F354-D1FC-193C-6761-6826E47807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A04D449-329E-AE71-D624-6EAC5F075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3E065-5FA8-4BF0-AEA1-74081FCB5CE3}" type="slidenum">
              <a:rPr lang="en-IN" smtClean="0"/>
              <a:t>‹#›</a:t>
            </a:fld>
            <a:endParaRPr lang="en-IN"/>
          </a:p>
        </p:txBody>
      </p:sp>
    </p:spTree>
    <p:extLst>
      <p:ext uri="{BB962C8B-B14F-4D97-AF65-F5344CB8AC3E}">
        <p14:creationId xmlns:p14="http://schemas.microsoft.com/office/powerpoint/2010/main" val="144976765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952394D-7790-4796-9019-E839AD0F7536}" type="datetimeFigureOut">
              <a:rPr lang="en-IN" smtClean="0"/>
              <a:t>28-08-2025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D13E065-5FA8-4BF0-AEA1-74081FCB5CE3}" type="slidenum">
              <a:rPr lang="en-IN" smtClean="0"/>
              <a:t>‹#›</a:t>
            </a:fld>
            <a:endParaRPr lang="en-IN"/>
          </a:p>
        </p:txBody>
      </p:sp>
    </p:spTree>
    <p:extLst>
      <p:ext uri="{BB962C8B-B14F-4D97-AF65-F5344CB8AC3E}">
        <p14:creationId xmlns:p14="http://schemas.microsoft.com/office/powerpoint/2010/main" val="103548874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F26E-99E1-F16B-21DC-A38FCDE1213C}"/>
              </a:ext>
            </a:extLst>
          </p:cNvPr>
          <p:cNvSpPr>
            <a:spLocks noGrp="1"/>
          </p:cNvSpPr>
          <p:nvPr>
            <p:ph type="ctrTitle"/>
          </p:nvPr>
        </p:nvSpPr>
        <p:spPr>
          <a:xfrm>
            <a:off x="2212532" y="1142404"/>
            <a:ext cx="7766936" cy="1646302"/>
          </a:xfrm>
        </p:spPr>
        <p:txBody>
          <a:bodyPr anchor="ctr">
            <a:normAutofit/>
          </a:bodyPr>
          <a:lstStyle/>
          <a:p>
            <a:pPr algn="ctr"/>
            <a:r>
              <a:rPr lang="en-US" dirty="0">
                <a:latin typeface="Times New Roman" panose="02020603050405020304" pitchFamily="18" charset="0"/>
                <a:cs typeface="Times New Roman" panose="02020603050405020304" pitchFamily="18" charset="0"/>
              </a:rPr>
              <a:t>Insurance Analytics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9DC0911-1A85-E731-AF9D-ADCCDEA3C2EF}"/>
              </a:ext>
            </a:extLst>
          </p:cNvPr>
          <p:cNvSpPr>
            <a:spLocks noGrp="1"/>
          </p:cNvSpPr>
          <p:nvPr>
            <p:ph type="subTitle" idx="1"/>
          </p:nvPr>
        </p:nvSpPr>
        <p:spPr>
          <a:xfrm>
            <a:off x="1524000" y="2788706"/>
            <a:ext cx="9144000" cy="3255962"/>
          </a:xfrm>
        </p:spPr>
        <p:txBody>
          <a:bodyPr>
            <a:noAutofit/>
          </a:bodyPr>
          <a:lstStyle/>
          <a:p>
            <a:pPr algn="ctr"/>
            <a:r>
              <a:rPr lang="en-US" sz="3000" dirty="0">
                <a:latin typeface="Times New Roman" panose="02020603050405020304" pitchFamily="18" charset="0"/>
                <a:cs typeface="Times New Roman" panose="02020603050405020304" pitchFamily="18" charset="0"/>
              </a:rPr>
              <a:t>Group 1</a:t>
            </a:r>
          </a:p>
          <a:p>
            <a:pPr algn="l"/>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Presented by:- </a:t>
            </a:r>
          </a:p>
          <a:p>
            <a:pPr marL="1371600" lvl="2" indent="-457200" algn="l">
              <a:buFont typeface="+mj-lt"/>
              <a:buAutoNum type="arabicPeriod"/>
            </a:pPr>
            <a:r>
              <a:rPr lang="en-US" sz="2000" dirty="0">
                <a:latin typeface="Times New Roman" panose="02020603050405020304" pitchFamily="18" charset="0"/>
                <a:cs typeface="Times New Roman" panose="02020603050405020304" pitchFamily="18" charset="0"/>
              </a:rPr>
              <a:t>Rohit Joshi</a:t>
            </a:r>
          </a:p>
          <a:p>
            <a:pPr marL="1371600" lvl="2" indent="-457200" algn="l">
              <a:buFont typeface="+mj-lt"/>
              <a:buAutoNum type="arabicPeriod"/>
            </a:pPr>
            <a:r>
              <a:rPr lang="en-US" sz="2000" dirty="0">
                <a:latin typeface="Times New Roman" panose="02020603050405020304" pitchFamily="18" charset="0"/>
                <a:cs typeface="Times New Roman" panose="02020603050405020304" pitchFamily="18" charset="0"/>
              </a:rPr>
              <a:t>Dipesh Gajra</a:t>
            </a:r>
          </a:p>
          <a:p>
            <a:pPr marL="1371600" lvl="2" indent="-457200" algn="l">
              <a:buFont typeface="+mj-lt"/>
              <a:buAutoNum type="arabicPeriod"/>
            </a:pPr>
            <a:r>
              <a:rPr lang="en-US" sz="2000" dirty="0">
                <a:latin typeface="Times New Roman" panose="02020603050405020304" pitchFamily="18" charset="0"/>
                <a:cs typeface="Times New Roman" panose="02020603050405020304" pitchFamily="18" charset="0"/>
              </a:rPr>
              <a:t>Ganesh U</a:t>
            </a:r>
          </a:p>
          <a:p>
            <a:pPr marL="1371600" lvl="2" indent="-457200" algn="l">
              <a:buFont typeface="+mj-lt"/>
              <a:buAutoNum type="arabicPeriod"/>
            </a:pPr>
            <a:r>
              <a:rPr lang="en-US" sz="2000" dirty="0">
                <a:latin typeface="Times New Roman" panose="02020603050405020304" pitchFamily="18" charset="0"/>
                <a:cs typeface="Times New Roman" panose="02020603050405020304" pitchFamily="18" charset="0"/>
              </a:rPr>
              <a:t>Vennu C</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00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DF9BB-881B-42B9-AF7E-4B15DF4EAAED}"/>
              </a:ext>
            </a:extLst>
          </p:cNvPr>
          <p:cNvSpPr>
            <a:spLocks noGrp="1"/>
          </p:cNvSpPr>
          <p:nvPr>
            <p:ph type="ctrTitle"/>
          </p:nvPr>
        </p:nvSpPr>
        <p:spPr>
          <a:xfrm>
            <a:off x="1519946" y="1782698"/>
            <a:ext cx="7766936" cy="1646302"/>
          </a:xfrm>
        </p:spPr>
        <p:txBody>
          <a:bodyPr anchor="ctr"/>
          <a:lstStyle/>
          <a:p>
            <a:pPr algn="ctr"/>
            <a:r>
              <a:rPr lang="en-US" dirty="0">
                <a:latin typeface="Times New Roman" panose="02020603050405020304" pitchFamily="18" charset="0"/>
                <a:cs typeface="Times New Roman" panose="02020603050405020304" pitchFamily="18" charset="0"/>
              </a:rPr>
              <a:t>Index</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4CEC105-DF44-9F0B-C6B6-D4EC0504A9B1}"/>
              </a:ext>
            </a:extLst>
          </p:cNvPr>
          <p:cNvSpPr>
            <a:spLocks noGrp="1"/>
          </p:cNvSpPr>
          <p:nvPr>
            <p:ph type="subTitle" idx="1"/>
          </p:nvPr>
        </p:nvSpPr>
        <p:spPr>
          <a:xfrm>
            <a:off x="313899" y="3602038"/>
            <a:ext cx="11682483" cy="3139956"/>
          </a:xfrm>
        </p:spPr>
        <p:txBody>
          <a:bodyPr>
            <a:normAutofit/>
          </a:bodyPr>
          <a:lstStyle/>
          <a:p>
            <a:pPr marL="457200" indent="-457200" algn="l">
              <a:buFont typeface="+mj-lt"/>
              <a:buAutoNum type="arabicPeriod"/>
            </a:pPr>
            <a:r>
              <a:rPr lang="en-US" sz="2000" dirty="0">
                <a:latin typeface="Times New Roman" panose="02020603050405020304" pitchFamily="18" charset="0"/>
                <a:cs typeface="Times New Roman" panose="02020603050405020304" pitchFamily="18" charset="0"/>
              </a:rPr>
              <a:t>Introduction</a:t>
            </a:r>
          </a:p>
          <a:p>
            <a:pPr marL="457200" indent="-457200" algn="l">
              <a:buFont typeface="+mj-lt"/>
              <a:buAutoNum type="arabicPeriod"/>
            </a:pPr>
            <a:r>
              <a:rPr lang="en-US" sz="2000" dirty="0">
                <a:latin typeface="Times New Roman" panose="02020603050405020304" pitchFamily="18" charset="0"/>
                <a:cs typeface="Times New Roman" panose="02020603050405020304" pitchFamily="18" charset="0"/>
              </a:rPr>
              <a:t>Objectives </a:t>
            </a:r>
          </a:p>
          <a:p>
            <a:pPr marL="457200" indent="-457200" algn="l">
              <a:buFont typeface="+mj-lt"/>
              <a:buAutoNum type="arabicPeriod"/>
            </a:pPr>
            <a:r>
              <a:rPr lang="en-US" sz="2000" dirty="0">
                <a:latin typeface="Times New Roman" panose="02020603050405020304" pitchFamily="18" charset="0"/>
                <a:cs typeface="Times New Roman" panose="02020603050405020304" pitchFamily="18" charset="0"/>
              </a:rPr>
              <a:t>Tools used for Data analysis and their limitations</a:t>
            </a:r>
          </a:p>
          <a:p>
            <a:pPr marL="457200" indent="-457200" algn="l">
              <a:buFont typeface="+mj-lt"/>
              <a:buAutoNum type="arabicPeriod"/>
            </a:pPr>
            <a:r>
              <a:rPr lang="en-US" sz="2000" dirty="0">
                <a:latin typeface="Times New Roman" panose="02020603050405020304" pitchFamily="18" charset="0"/>
                <a:cs typeface="Times New Roman" panose="02020603050405020304" pitchFamily="18" charset="0"/>
              </a:rPr>
              <a:t>Dashboard</a:t>
            </a:r>
          </a:p>
          <a:p>
            <a:pPr marL="457200" indent="-457200" algn="l">
              <a:buFont typeface="+mj-lt"/>
              <a:buAutoNum type="arabicPeriod"/>
            </a:pPr>
            <a:r>
              <a:rPr lang="en-US" sz="2000" dirty="0">
                <a:latin typeface="Times New Roman" panose="02020603050405020304" pitchFamily="18" charset="0"/>
                <a:cs typeface="Times New Roman" panose="02020603050405020304" pitchFamily="18" charset="0"/>
              </a:rPr>
              <a:t>Findings</a:t>
            </a:r>
          </a:p>
          <a:p>
            <a:pPr marL="457200" indent="-457200" algn="l">
              <a:buFont typeface="+mj-lt"/>
              <a:buAutoNum type="arabicPeriod"/>
            </a:pPr>
            <a:r>
              <a:rPr lang="en-US" sz="20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87813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6BDCD-7D55-B82E-3933-702722102F6E}"/>
              </a:ext>
            </a:extLst>
          </p:cNvPr>
          <p:cNvSpPr>
            <a:spLocks noGrp="1"/>
          </p:cNvSpPr>
          <p:nvPr>
            <p:ph type="ctrTitle"/>
          </p:nvPr>
        </p:nvSpPr>
        <p:spPr>
          <a:xfrm>
            <a:off x="1610098" y="1090888"/>
            <a:ext cx="7766936" cy="1646302"/>
          </a:xfrm>
        </p:spPr>
        <p:txBody>
          <a:bodyPr anchor="ctr"/>
          <a:lstStyle/>
          <a:p>
            <a:pPr algn="ctr"/>
            <a:r>
              <a:rPr lang="en-US" dirty="0">
                <a:latin typeface="Times New Roman" panose="02020603050405020304" pitchFamily="18" charset="0"/>
                <a:cs typeface="Times New Roman" panose="02020603050405020304" pitchFamily="18" charset="0"/>
              </a:rPr>
              <a:t>Introduction</a:t>
            </a:r>
            <a:endParaRPr lang="en-IN" dirty="0"/>
          </a:p>
        </p:txBody>
      </p:sp>
      <p:sp>
        <p:nvSpPr>
          <p:cNvPr id="3" name="Subtitle 2">
            <a:extLst>
              <a:ext uri="{FF2B5EF4-FFF2-40B4-BE49-F238E27FC236}">
                <a16:creationId xmlns:a16="http://schemas.microsoft.com/office/drawing/2014/main" id="{456AE25E-2A51-FFB5-564E-7E7F1F85068C}"/>
              </a:ext>
            </a:extLst>
          </p:cNvPr>
          <p:cNvSpPr>
            <a:spLocks noGrp="1"/>
          </p:cNvSpPr>
          <p:nvPr>
            <p:ph type="subTitle" idx="1"/>
          </p:nvPr>
        </p:nvSpPr>
        <p:spPr>
          <a:xfrm>
            <a:off x="156276" y="2613508"/>
            <a:ext cx="11682483" cy="3153604"/>
          </a:xfrm>
        </p:spPr>
        <p:txBody>
          <a:bodyPr>
            <a:normAutofit/>
          </a:bodyPr>
          <a:lstStyle/>
          <a:p>
            <a:pPr algn="l"/>
            <a:r>
              <a:rPr lang="en-US" sz="2000" dirty="0">
                <a:latin typeface="Times New Roman" panose="02020603050405020304" pitchFamily="18" charset="0"/>
                <a:cs typeface="Times New Roman" panose="02020603050405020304" pitchFamily="18" charset="0"/>
              </a:rPr>
              <a:t>Insurance Analytics project explains how the use of the advanced data analysis tools like Advanced excel, SQL, Power Bi, Tableau helps in the insurance industry to lead the better risk assessment, more accurate pricing, enhanced fraud detection and improved customer experiences.</a:t>
            </a:r>
            <a:endParaRPr lang="en-IN" sz="2000" dirty="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38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8956-7796-1519-3A47-19238B4DB321}"/>
              </a:ext>
            </a:extLst>
          </p:cNvPr>
          <p:cNvSpPr>
            <a:spLocks noGrp="1"/>
          </p:cNvSpPr>
          <p:nvPr>
            <p:ph type="ctrTitle"/>
          </p:nvPr>
        </p:nvSpPr>
        <p:spPr>
          <a:xfrm>
            <a:off x="177421" y="1122363"/>
            <a:ext cx="11778017" cy="1184109"/>
          </a:xfrm>
        </p:spPr>
        <p:txBody>
          <a:bodyPr anchor="ctr"/>
          <a:lstStyle/>
          <a:p>
            <a:pPr algn="ctr"/>
            <a:r>
              <a:rPr lang="en-US" dirty="0">
                <a:latin typeface="Times New Roman" panose="02020603050405020304" pitchFamily="18" charset="0"/>
                <a:cs typeface="Times New Roman" panose="02020603050405020304" pitchFamily="18" charset="0"/>
              </a:rPr>
              <a:t>Objectives</a:t>
            </a:r>
            <a:endParaRPr lang="en-IN" dirty="0"/>
          </a:p>
        </p:txBody>
      </p:sp>
      <p:sp>
        <p:nvSpPr>
          <p:cNvPr id="3" name="Subtitle 2">
            <a:extLst>
              <a:ext uri="{FF2B5EF4-FFF2-40B4-BE49-F238E27FC236}">
                <a16:creationId xmlns:a16="http://schemas.microsoft.com/office/drawing/2014/main" id="{BAFFB536-AABF-45A1-438D-E0B53D44A1E7}"/>
              </a:ext>
            </a:extLst>
          </p:cNvPr>
          <p:cNvSpPr>
            <a:spLocks noGrp="1"/>
          </p:cNvSpPr>
          <p:nvPr>
            <p:ph type="subTitle" idx="1"/>
          </p:nvPr>
        </p:nvSpPr>
        <p:spPr>
          <a:xfrm>
            <a:off x="177421" y="2306473"/>
            <a:ext cx="11778017" cy="4394578"/>
          </a:xfrm>
        </p:spPr>
        <p:txBody>
          <a:bodyPr>
            <a:normAutofit/>
          </a:bodyPr>
          <a:lstStyle/>
          <a:p>
            <a:pPr algn="l"/>
            <a:r>
              <a:rPr lang="en-US" sz="2000" dirty="0">
                <a:latin typeface="Times New Roman" panose="02020603050405020304" pitchFamily="18" charset="0"/>
                <a:cs typeface="Times New Roman" panose="02020603050405020304" pitchFamily="18" charset="0"/>
              </a:rPr>
              <a:t>Prepare the dashboard as per the KPI’s given below:-</a:t>
            </a:r>
          </a:p>
          <a:p>
            <a:pPr lvl="8" algn="l"/>
            <a:r>
              <a:rPr lang="en-US" sz="2000" dirty="0">
                <a:latin typeface="Times New Roman" panose="02020603050405020304" pitchFamily="18" charset="0"/>
                <a:cs typeface="Times New Roman" panose="02020603050405020304" pitchFamily="18" charset="0"/>
              </a:rPr>
              <a:t>1-No of Invoice by Account Exec</a:t>
            </a:r>
          </a:p>
          <a:p>
            <a:pPr lvl="8" algn="l"/>
            <a:r>
              <a:rPr lang="en-US" sz="2000" dirty="0">
                <a:latin typeface="Times New Roman" panose="02020603050405020304" pitchFamily="18" charset="0"/>
                <a:cs typeface="Times New Roman" panose="02020603050405020304" pitchFamily="18" charset="0"/>
              </a:rPr>
              <a:t>2-Yearly Meeting Count</a:t>
            </a:r>
          </a:p>
          <a:p>
            <a:pPr lvl="8" algn="l"/>
            <a:r>
              <a:rPr lang="en-US" sz="2000" dirty="0">
                <a:latin typeface="Times New Roman" panose="02020603050405020304" pitchFamily="18" charset="0"/>
                <a:cs typeface="Times New Roman" panose="02020603050405020304" pitchFamily="18" charset="0"/>
              </a:rPr>
              <a:t>3.1Cross Sell--Target, Achieve, new</a:t>
            </a:r>
          </a:p>
          <a:p>
            <a:pPr lvl="8" algn="l"/>
            <a:r>
              <a:rPr lang="en-US" sz="2000" dirty="0">
                <a:latin typeface="Times New Roman" panose="02020603050405020304" pitchFamily="18" charset="0"/>
                <a:cs typeface="Times New Roman" panose="02020603050405020304" pitchFamily="18" charset="0"/>
              </a:rPr>
              <a:t>3.1New-Target,Achive,new</a:t>
            </a:r>
          </a:p>
          <a:p>
            <a:pPr lvl="8" algn="l"/>
            <a:r>
              <a:rPr lang="en-US" sz="2000" dirty="0">
                <a:latin typeface="Times New Roman" panose="02020603050405020304" pitchFamily="18" charset="0"/>
                <a:cs typeface="Times New Roman" panose="02020603050405020304" pitchFamily="18" charset="0"/>
              </a:rPr>
              <a:t>3.1Renewal-Target, Achieve , new</a:t>
            </a:r>
          </a:p>
          <a:p>
            <a:pPr lvl="8" algn="l"/>
            <a:r>
              <a:rPr lang="en-US" sz="2000" dirty="0">
                <a:latin typeface="Times New Roman" panose="02020603050405020304" pitchFamily="18" charset="0"/>
                <a:cs typeface="Times New Roman" panose="02020603050405020304" pitchFamily="18" charset="0"/>
              </a:rPr>
              <a:t> 4. Stage Funnel by Revenue</a:t>
            </a:r>
          </a:p>
          <a:p>
            <a:pPr lvl="8" algn="l"/>
            <a:r>
              <a:rPr lang="en-US" sz="2000" dirty="0">
                <a:latin typeface="Times New Roman" panose="02020603050405020304" pitchFamily="18" charset="0"/>
                <a:cs typeface="Times New Roman" panose="02020603050405020304" pitchFamily="18" charset="0"/>
              </a:rPr>
              <a:t>5. No of meeting By Account Exe</a:t>
            </a:r>
          </a:p>
          <a:p>
            <a:pPr lvl="8" algn="l"/>
            <a:r>
              <a:rPr lang="en-US" sz="2000" dirty="0">
                <a:latin typeface="Times New Roman" panose="02020603050405020304" pitchFamily="18" charset="0"/>
                <a:cs typeface="Times New Roman" panose="02020603050405020304" pitchFamily="18" charset="0"/>
              </a:rPr>
              <a:t>6- Top Open Opportunity</a:t>
            </a:r>
          </a:p>
          <a:p>
            <a:pPr lvl="8" algn="l"/>
            <a:endParaRPr lang="en-US" dirty="0">
              <a:latin typeface="Times New Roman" panose="02020603050405020304" pitchFamily="18" charset="0"/>
              <a:cs typeface="Times New Roman" panose="02020603050405020304" pitchFamily="18" charset="0"/>
            </a:endParaRPr>
          </a:p>
          <a:p>
            <a:pPr lvl="8" algn="l"/>
            <a:endParaRPr lang="en-IN"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67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49FA9-2339-5892-713A-BEC5821B0974}"/>
              </a:ext>
            </a:extLst>
          </p:cNvPr>
          <p:cNvSpPr>
            <a:spLocks noGrp="1"/>
          </p:cNvSpPr>
          <p:nvPr>
            <p:ph type="ctrTitle"/>
          </p:nvPr>
        </p:nvSpPr>
        <p:spPr>
          <a:xfrm>
            <a:off x="813387" y="877665"/>
            <a:ext cx="9144000" cy="1655762"/>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Tools used for Data analysis and their limitations</a:t>
            </a:r>
            <a:endParaRPr lang="en-IN" dirty="0"/>
          </a:p>
        </p:txBody>
      </p:sp>
      <p:sp>
        <p:nvSpPr>
          <p:cNvPr id="3" name="Subtitle 2">
            <a:extLst>
              <a:ext uri="{FF2B5EF4-FFF2-40B4-BE49-F238E27FC236}">
                <a16:creationId xmlns:a16="http://schemas.microsoft.com/office/drawing/2014/main" id="{0F119658-EE9C-DBC8-9A92-508D76EC0061}"/>
              </a:ext>
            </a:extLst>
          </p:cNvPr>
          <p:cNvSpPr>
            <a:spLocks noGrp="1"/>
          </p:cNvSpPr>
          <p:nvPr>
            <p:ph type="subTitle" idx="1"/>
          </p:nvPr>
        </p:nvSpPr>
        <p:spPr>
          <a:xfrm>
            <a:off x="204716" y="3429000"/>
            <a:ext cx="11778018" cy="3255962"/>
          </a:xfrm>
        </p:spPr>
        <p:txBody>
          <a:bodyPr>
            <a:normAutofit fontScale="92500" lnSpcReduction="20000"/>
          </a:bodyPr>
          <a:lstStyle/>
          <a:p>
            <a:pPr algn="l"/>
            <a:r>
              <a:rPr lang="en-US" sz="2000" dirty="0">
                <a:latin typeface="Times New Roman" panose="02020603050405020304" pitchFamily="18" charset="0"/>
                <a:cs typeface="Times New Roman" panose="02020603050405020304" pitchFamily="18" charset="0"/>
              </a:rPr>
              <a:t>1:- Excel</a:t>
            </a:r>
          </a:p>
          <a:p>
            <a:pPr algn="l"/>
            <a:r>
              <a:rPr lang="en-US" sz="2000" dirty="0">
                <a:latin typeface="Times New Roman" panose="02020603050405020304" pitchFamily="18" charset="0"/>
                <a:cs typeface="Times New Roman" panose="02020603050405020304" pitchFamily="18" charset="0"/>
              </a:rPr>
              <a:t>Limitations of excel:- Limited charting options for visual designing </a:t>
            </a:r>
          </a:p>
          <a:p>
            <a:pPr algn="l"/>
            <a:r>
              <a:rPr lang="en-US" sz="2000" dirty="0">
                <a:latin typeface="Times New Roman" panose="02020603050405020304" pitchFamily="18" charset="0"/>
                <a:cs typeface="Times New Roman" panose="02020603050405020304" pitchFamily="18" charset="0"/>
              </a:rPr>
              <a:t>2:- SQL</a:t>
            </a:r>
          </a:p>
          <a:p>
            <a:pPr algn="l"/>
            <a:r>
              <a:rPr lang="en-US" sz="2000" dirty="0">
                <a:latin typeface="Times New Roman" panose="02020603050405020304" pitchFamily="18" charset="0"/>
                <a:cs typeface="Times New Roman" panose="02020603050405020304" pitchFamily="18" charset="0"/>
              </a:rPr>
              <a:t>Limitations of SQL:- No built-in visualization capability leads to lack of visualization capabilities</a:t>
            </a:r>
          </a:p>
          <a:p>
            <a:pPr algn="l"/>
            <a:r>
              <a:rPr lang="en-US" sz="2000" dirty="0">
                <a:latin typeface="Times New Roman" panose="02020603050405020304" pitchFamily="18" charset="0"/>
                <a:cs typeface="Times New Roman" panose="02020603050405020304" pitchFamily="18" charset="0"/>
              </a:rPr>
              <a:t>3:- Power BI</a:t>
            </a:r>
          </a:p>
          <a:p>
            <a:pPr algn="l"/>
            <a:r>
              <a:rPr lang="en-US" sz="2000" dirty="0">
                <a:latin typeface="Times New Roman" panose="02020603050405020304" pitchFamily="18" charset="0"/>
                <a:cs typeface="Times New Roman" panose="02020603050405020304" pitchFamily="18" charset="0"/>
              </a:rPr>
              <a:t>Limitations of Power Bi:- Slow performance with large data sets</a:t>
            </a:r>
          </a:p>
          <a:p>
            <a:pPr algn="l"/>
            <a:r>
              <a:rPr lang="en-US" sz="2000" dirty="0">
                <a:latin typeface="Times New Roman" panose="02020603050405020304" pitchFamily="18" charset="0"/>
                <a:cs typeface="Times New Roman" panose="02020603050405020304" pitchFamily="18" charset="0"/>
              </a:rPr>
              <a:t>4:- Tableau Public</a:t>
            </a:r>
          </a:p>
          <a:p>
            <a:pPr algn="l"/>
            <a:r>
              <a:rPr lang="en-US" sz="2000" dirty="0">
                <a:latin typeface="Times New Roman" panose="02020603050405020304" pitchFamily="18" charset="0"/>
                <a:cs typeface="Times New Roman" panose="02020603050405020304" pitchFamily="18" charset="0"/>
              </a:rPr>
              <a:t>Limitations of Tableau Public :- Only allows access to the local data sources, being able to publish publicly only, and no data automation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5176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5EF6-8F16-B7B3-BB11-35778623DD92}"/>
              </a:ext>
            </a:extLst>
          </p:cNvPr>
          <p:cNvSpPr>
            <a:spLocks noGrp="1"/>
          </p:cNvSpPr>
          <p:nvPr>
            <p:ph type="title"/>
          </p:nvPr>
        </p:nvSpPr>
        <p:spPr>
          <a:xfrm>
            <a:off x="838200" y="2766218"/>
            <a:ext cx="10515600" cy="1325563"/>
          </a:xfrm>
        </p:spPr>
        <p:txBody>
          <a:bodyPr>
            <a:normAutofit/>
          </a:bodyPr>
          <a:lstStyle/>
          <a:p>
            <a:pPr algn="ctr"/>
            <a:r>
              <a:rPr lang="en-US" sz="6000" dirty="0">
                <a:latin typeface="Times New Roman" panose="02020603050405020304" pitchFamily="18" charset="0"/>
                <a:cs typeface="Times New Roman" panose="02020603050405020304" pitchFamily="18" charset="0"/>
              </a:rPr>
              <a:t>Dashboard</a:t>
            </a:r>
            <a:endParaRPr lang="en-IN" sz="6000" dirty="0"/>
          </a:p>
        </p:txBody>
      </p:sp>
    </p:spTree>
    <p:extLst>
      <p:ext uri="{BB962C8B-B14F-4D97-AF65-F5344CB8AC3E}">
        <p14:creationId xmlns:p14="http://schemas.microsoft.com/office/powerpoint/2010/main" val="770890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5858C-38FC-B374-2FAA-BC473D223B9F}"/>
              </a:ext>
            </a:extLst>
          </p:cNvPr>
          <p:cNvSpPr>
            <a:spLocks noGrp="1"/>
          </p:cNvSpPr>
          <p:nvPr>
            <p:ph type="title"/>
          </p:nvPr>
        </p:nvSpPr>
        <p:spPr>
          <a:xfrm>
            <a:off x="838200" y="365126"/>
            <a:ext cx="10515600" cy="603866"/>
          </a:xfrm>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Excel Dashboard</a:t>
            </a:r>
            <a:endParaRPr lang="en-IN"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A71A1C-750D-50ED-7FD8-22FA7C5EB90A}"/>
              </a:ext>
            </a:extLst>
          </p:cNvPr>
          <p:cNvPicPr>
            <a:picLocks noChangeAspect="1"/>
          </p:cNvPicPr>
          <p:nvPr/>
        </p:nvPicPr>
        <p:blipFill>
          <a:blip r:embed="rId2"/>
          <a:stretch>
            <a:fillRect/>
          </a:stretch>
        </p:blipFill>
        <p:spPr>
          <a:xfrm>
            <a:off x="567744" y="959190"/>
            <a:ext cx="10515600" cy="5718410"/>
          </a:xfrm>
          <a:prstGeom prst="rect">
            <a:avLst/>
          </a:prstGeom>
        </p:spPr>
      </p:pic>
    </p:spTree>
    <p:extLst>
      <p:ext uri="{BB962C8B-B14F-4D97-AF65-F5344CB8AC3E}">
        <p14:creationId xmlns:p14="http://schemas.microsoft.com/office/powerpoint/2010/main" val="3013692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D419-A8A7-DE43-1A6D-17D52999646E}"/>
              </a:ext>
            </a:extLst>
          </p:cNvPr>
          <p:cNvSpPr>
            <a:spLocks noGrp="1"/>
          </p:cNvSpPr>
          <p:nvPr>
            <p:ph type="title"/>
          </p:nvPr>
        </p:nvSpPr>
        <p:spPr>
          <a:xfrm>
            <a:off x="838200" y="365125"/>
            <a:ext cx="10515600" cy="644809"/>
          </a:xfrm>
        </p:spPr>
        <p:txBody>
          <a:bodyPr>
            <a:normAutofit/>
          </a:bodyPr>
          <a:lstStyle/>
          <a:p>
            <a:pPr algn="ctr"/>
            <a:r>
              <a:rPr lang="en-US" sz="4000" dirty="0">
                <a:latin typeface="Times New Roman" panose="02020603050405020304" pitchFamily="18" charset="0"/>
                <a:cs typeface="Times New Roman" panose="02020603050405020304" pitchFamily="18" charset="0"/>
              </a:rPr>
              <a:t>SQL Queries</a:t>
            </a:r>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A902D08-EAFB-FB46-C24C-E076BD55A667}"/>
              </a:ext>
            </a:extLst>
          </p:cNvPr>
          <p:cNvPicPr>
            <a:picLocks noChangeAspect="1"/>
          </p:cNvPicPr>
          <p:nvPr/>
        </p:nvPicPr>
        <p:blipFill>
          <a:blip r:embed="rId2"/>
          <a:stretch>
            <a:fillRect/>
          </a:stretch>
        </p:blipFill>
        <p:spPr>
          <a:xfrm>
            <a:off x="-1" y="1733313"/>
            <a:ext cx="6660107" cy="2183594"/>
          </a:xfrm>
          <a:prstGeom prst="rect">
            <a:avLst/>
          </a:prstGeom>
        </p:spPr>
      </p:pic>
      <p:pic>
        <p:nvPicPr>
          <p:cNvPr id="6" name="Picture 5">
            <a:extLst>
              <a:ext uri="{FF2B5EF4-FFF2-40B4-BE49-F238E27FC236}">
                <a16:creationId xmlns:a16="http://schemas.microsoft.com/office/drawing/2014/main" id="{D4587CBF-2A0C-88C8-0352-93EF30A0C062}"/>
              </a:ext>
            </a:extLst>
          </p:cNvPr>
          <p:cNvPicPr>
            <a:picLocks noChangeAspect="1"/>
          </p:cNvPicPr>
          <p:nvPr/>
        </p:nvPicPr>
        <p:blipFill>
          <a:blip r:embed="rId3"/>
          <a:stretch>
            <a:fillRect/>
          </a:stretch>
        </p:blipFill>
        <p:spPr>
          <a:xfrm>
            <a:off x="6660106" y="1733313"/>
            <a:ext cx="5531894" cy="2183594"/>
          </a:xfrm>
          <a:prstGeom prst="rect">
            <a:avLst/>
          </a:prstGeom>
        </p:spPr>
      </p:pic>
      <p:pic>
        <p:nvPicPr>
          <p:cNvPr id="8" name="Picture 7">
            <a:extLst>
              <a:ext uri="{FF2B5EF4-FFF2-40B4-BE49-F238E27FC236}">
                <a16:creationId xmlns:a16="http://schemas.microsoft.com/office/drawing/2014/main" id="{3796BFFB-05A4-A625-2A7E-5FBAD0A3BFE7}"/>
              </a:ext>
            </a:extLst>
          </p:cNvPr>
          <p:cNvPicPr>
            <a:picLocks noChangeAspect="1"/>
          </p:cNvPicPr>
          <p:nvPr/>
        </p:nvPicPr>
        <p:blipFill>
          <a:blip r:embed="rId4"/>
          <a:stretch>
            <a:fillRect/>
          </a:stretch>
        </p:blipFill>
        <p:spPr>
          <a:xfrm>
            <a:off x="0" y="4902958"/>
            <a:ext cx="6660106" cy="1505160"/>
          </a:xfrm>
          <a:prstGeom prst="rect">
            <a:avLst/>
          </a:prstGeom>
        </p:spPr>
      </p:pic>
      <p:pic>
        <p:nvPicPr>
          <p:cNvPr id="10" name="Picture 9">
            <a:extLst>
              <a:ext uri="{FF2B5EF4-FFF2-40B4-BE49-F238E27FC236}">
                <a16:creationId xmlns:a16="http://schemas.microsoft.com/office/drawing/2014/main" id="{8A033333-E7FE-0CFE-76CB-155013BE8AEB}"/>
              </a:ext>
            </a:extLst>
          </p:cNvPr>
          <p:cNvPicPr>
            <a:picLocks noChangeAspect="1"/>
          </p:cNvPicPr>
          <p:nvPr/>
        </p:nvPicPr>
        <p:blipFill>
          <a:blip r:embed="rId5"/>
          <a:stretch>
            <a:fillRect/>
          </a:stretch>
        </p:blipFill>
        <p:spPr>
          <a:xfrm>
            <a:off x="6660106" y="4902958"/>
            <a:ext cx="5531894" cy="1505160"/>
          </a:xfrm>
          <a:prstGeom prst="rect">
            <a:avLst/>
          </a:prstGeom>
        </p:spPr>
      </p:pic>
      <p:sp>
        <p:nvSpPr>
          <p:cNvPr id="11" name="TextBox 10">
            <a:extLst>
              <a:ext uri="{FF2B5EF4-FFF2-40B4-BE49-F238E27FC236}">
                <a16:creationId xmlns:a16="http://schemas.microsoft.com/office/drawing/2014/main" id="{E724A25C-4EE5-A7C2-E651-4C42D626DE79}"/>
              </a:ext>
            </a:extLst>
          </p:cNvPr>
          <p:cNvSpPr txBox="1"/>
          <p:nvPr/>
        </p:nvSpPr>
        <p:spPr>
          <a:xfrm>
            <a:off x="-1" y="1201003"/>
            <a:ext cx="5186149" cy="369332"/>
          </a:xfrm>
          <a:prstGeom prst="rect">
            <a:avLst/>
          </a:prstGeom>
          <a:noFill/>
        </p:spPr>
        <p:txBody>
          <a:bodyPr wrap="square" rtlCol="0">
            <a:spAutoFit/>
          </a:bodyPr>
          <a:lstStyle/>
          <a:p>
            <a:r>
              <a:rPr lang="en-US" dirty="0"/>
              <a:t>KPI 1 :- No. of Invoice by Account Exec </a:t>
            </a:r>
            <a:endParaRPr lang="en-IN" dirty="0"/>
          </a:p>
        </p:txBody>
      </p:sp>
      <p:sp>
        <p:nvSpPr>
          <p:cNvPr id="12" name="TextBox 11">
            <a:extLst>
              <a:ext uri="{FF2B5EF4-FFF2-40B4-BE49-F238E27FC236}">
                <a16:creationId xmlns:a16="http://schemas.microsoft.com/office/drawing/2014/main" id="{EC242349-FA9D-7FFE-A946-D916FE2D014C}"/>
              </a:ext>
            </a:extLst>
          </p:cNvPr>
          <p:cNvSpPr txBox="1"/>
          <p:nvPr/>
        </p:nvSpPr>
        <p:spPr>
          <a:xfrm>
            <a:off x="-1" y="4455620"/>
            <a:ext cx="4408227" cy="369332"/>
          </a:xfrm>
          <a:prstGeom prst="rect">
            <a:avLst/>
          </a:prstGeom>
          <a:noFill/>
        </p:spPr>
        <p:txBody>
          <a:bodyPr wrap="square" rtlCol="0">
            <a:spAutoFit/>
          </a:bodyPr>
          <a:lstStyle/>
          <a:p>
            <a:r>
              <a:rPr lang="en-US" dirty="0"/>
              <a:t>KPI 2 :- Yearly Meeting Count</a:t>
            </a:r>
            <a:endParaRPr lang="en-IN" dirty="0"/>
          </a:p>
        </p:txBody>
      </p:sp>
      <p:sp>
        <p:nvSpPr>
          <p:cNvPr id="13" name="TextBox 12">
            <a:extLst>
              <a:ext uri="{FF2B5EF4-FFF2-40B4-BE49-F238E27FC236}">
                <a16:creationId xmlns:a16="http://schemas.microsoft.com/office/drawing/2014/main" id="{CA4B505B-B1C9-2CD6-277C-724431222F9C}"/>
              </a:ext>
            </a:extLst>
          </p:cNvPr>
          <p:cNvSpPr txBox="1"/>
          <p:nvPr/>
        </p:nvSpPr>
        <p:spPr>
          <a:xfrm>
            <a:off x="6660106" y="1186957"/>
            <a:ext cx="1528551" cy="369332"/>
          </a:xfrm>
          <a:prstGeom prst="rect">
            <a:avLst/>
          </a:prstGeom>
          <a:noFill/>
        </p:spPr>
        <p:txBody>
          <a:bodyPr wrap="square" rtlCol="0">
            <a:spAutoFit/>
          </a:bodyPr>
          <a:lstStyle/>
          <a:p>
            <a:r>
              <a:rPr lang="en-US" dirty="0"/>
              <a:t>Output</a:t>
            </a:r>
          </a:p>
        </p:txBody>
      </p:sp>
      <p:sp>
        <p:nvSpPr>
          <p:cNvPr id="14" name="TextBox 13">
            <a:extLst>
              <a:ext uri="{FF2B5EF4-FFF2-40B4-BE49-F238E27FC236}">
                <a16:creationId xmlns:a16="http://schemas.microsoft.com/office/drawing/2014/main" id="{ABA9990C-335B-614E-B20D-20DE7C8E76A7}"/>
              </a:ext>
            </a:extLst>
          </p:cNvPr>
          <p:cNvSpPr txBox="1"/>
          <p:nvPr/>
        </p:nvSpPr>
        <p:spPr>
          <a:xfrm>
            <a:off x="6660105" y="4455620"/>
            <a:ext cx="1528551"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232602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1079ED-38FC-390A-2205-18F0AC37E96C}"/>
              </a:ext>
            </a:extLst>
          </p:cNvPr>
          <p:cNvPicPr>
            <a:picLocks noChangeAspect="1"/>
          </p:cNvPicPr>
          <p:nvPr/>
        </p:nvPicPr>
        <p:blipFill>
          <a:blip r:embed="rId2"/>
          <a:stretch>
            <a:fillRect/>
          </a:stretch>
        </p:blipFill>
        <p:spPr>
          <a:xfrm>
            <a:off x="167725" y="370806"/>
            <a:ext cx="5496692" cy="4505954"/>
          </a:xfrm>
          <a:prstGeom prst="rect">
            <a:avLst/>
          </a:prstGeom>
        </p:spPr>
      </p:pic>
      <p:pic>
        <p:nvPicPr>
          <p:cNvPr id="5" name="Picture 4">
            <a:extLst>
              <a:ext uri="{FF2B5EF4-FFF2-40B4-BE49-F238E27FC236}">
                <a16:creationId xmlns:a16="http://schemas.microsoft.com/office/drawing/2014/main" id="{9B83B70E-237C-17C6-1587-73FCFBE77E64}"/>
              </a:ext>
            </a:extLst>
          </p:cNvPr>
          <p:cNvPicPr>
            <a:picLocks noChangeAspect="1"/>
          </p:cNvPicPr>
          <p:nvPr/>
        </p:nvPicPr>
        <p:blipFill>
          <a:blip r:embed="rId3"/>
          <a:stretch>
            <a:fillRect/>
          </a:stretch>
        </p:blipFill>
        <p:spPr>
          <a:xfrm>
            <a:off x="6096000" y="370806"/>
            <a:ext cx="5144218" cy="4677428"/>
          </a:xfrm>
          <a:prstGeom prst="rect">
            <a:avLst/>
          </a:prstGeom>
        </p:spPr>
      </p:pic>
      <p:pic>
        <p:nvPicPr>
          <p:cNvPr id="7" name="Picture 6">
            <a:extLst>
              <a:ext uri="{FF2B5EF4-FFF2-40B4-BE49-F238E27FC236}">
                <a16:creationId xmlns:a16="http://schemas.microsoft.com/office/drawing/2014/main" id="{DB57172C-AF8F-FA0F-35B7-9F08F2324388}"/>
              </a:ext>
            </a:extLst>
          </p:cNvPr>
          <p:cNvPicPr>
            <a:picLocks noChangeAspect="1"/>
          </p:cNvPicPr>
          <p:nvPr/>
        </p:nvPicPr>
        <p:blipFill>
          <a:blip r:embed="rId4"/>
          <a:stretch>
            <a:fillRect/>
          </a:stretch>
        </p:blipFill>
        <p:spPr>
          <a:xfrm>
            <a:off x="103939" y="5219472"/>
            <a:ext cx="8466855" cy="1619910"/>
          </a:xfrm>
          <a:prstGeom prst="rect">
            <a:avLst/>
          </a:prstGeom>
        </p:spPr>
      </p:pic>
      <p:sp>
        <p:nvSpPr>
          <p:cNvPr id="8" name="TextBox 7">
            <a:extLst>
              <a:ext uri="{FF2B5EF4-FFF2-40B4-BE49-F238E27FC236}">
                <a16:creationId xmlns:a16="http://schemas.microsoft.com/office/drawing/2014/main" id="{4D321363-92A6-8C13-5D13-39932ECA88D5}"/>
              </a:ext>
            </a:extLst>
          </p:cNvPr>
          <p:cNvSpPr txBox="1"/>
          <p:nvPr/>
        </p:nvSpPr>
        <p:spPr>
          <a:xfrm>
            <a:off x="103939" y="41742"/>
            <a:ext cx="11920336" cy="369332"/>
          </a:xfrm>
          <a:prstGeom prst="rect">
            <a:avLst/>
          </a:prstGeom>
          <a:noFill/>
        </p:spPr>
        <p:txBody>
          <a:bodyPr wrap="square" rtlCol="0">
            <a:spAutoFit/>
          </a:bodyPr>
          <a:lstStyle/>
          <a:p>
            <a:r>
              <a:rPr lang="en-US" dirty="0"/>
              <a:t>KPI 3 :- Placed Achievement %, Invoice Achievement % in Cross sell, New &amp; Renewal  </a:t>
            </a:r>
            <a:endParaRPr lang="en-IN" dirty="0"/>
          </a:p>
        </p:txBody>
      </p:sp>
      <p:sp>
        <p:nvSpPr>
          <p:cNvPr id="9" name="TextBox 8">
            <a:extLst>
              <a:ext uri="{FF2B5EF4-FFF2-40B4-BE49-F238E27FC236}">
                <a16:creationId xmlns:a16="http://schemas.microsoft.com/office/drawing/2014/main" id="{A7A80B3F-E3DB-A666-B54C-6AA4EB163666}"/>
              </a:ext>
            </a:extLst>
          </p:cNvPr>
          <p:cNvSpPr txBox="1"/>
          <p:nvPr/>
        </p:nvSpPr>
        <p:spPr>
          <a:xfrm>
            <a:off x="103939" y="4876760"/>
            <a:ext cx="1738509" cy="646331"/>
          </a:xfrm>
          <a:prstGeom prst="rect">
            <a:avLst/>
          </a:prstGeom>
          <a:noFill/>
        </p:spPr>
        <p:txBody>
          <a:bodyPr wrap="square" rtlCol="0">
            <a:spAutoFit/>
          </a:bodyPr>
          <a:lstStyle/>
          <a:p>
            <a:r>
              <a:rPr lang="en-US" dirty="0"/>
              <a:t>Output</a:t>
            </a:r>
          </a:p>
          <a:p>
            <a:endParaRPr lang="en-IN" dirty="0"/>
          </a:p>
        </p:txBody>
      </p:sp>
    </p:spTree>
    <p:extLst>
      <p:ext uri="{BB962C8B-B14F-4D97-AF65-F5344CB8AC3E}">
        <p14:creationId xmlns:p14="http://schemas.microsoft.com/office/powerpoint/2010/main" val="2516563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AE65FB-458A-A233-2C51-325B85058941}"/>
              </a:ext>
            </a:extLst>
          </p:cNvPr>
          <p:cNvPicPr>
            <a:picLocks noChangeAspect="1"/>
          </p:cNvPicPr>
          <p:nvPr/>
        </p:nvPicPr>
        <p:blipFill>
          <a:blip r:embed="rId2"/>
          <a:stretch>
            <a:fillRect/>
          </a:stretch>
        </p:blipFill>
        <p:spPr>
          <a:xfrm>
            <a:off x="0" y="459535"/>
            <a:ext cx="7573432" cy="1162212"/>
          </a:xfrm>
          <a:prstGeom prst="rect">
            <a:avLst/>
          </a:prstGeom>
        </p:spPr>
      </p:pic>
      <p:pic>
        <p:nvPicPr>
          <p:cNvPr id="5" name="Picture 4">
            <a:extLst>
              <a:ext uri="{FF2B5EF4-FFF2-40B4-BE49-F238E27FC236}">
                <a16:creationId xmlns:a16="http://schemas.microsoft.com/office/drawing/2014/main" id="{3EDF6E71-8585-8AE5-8EC2-9002622672BE}"/>
              </a:ext>
            </a:extLst>
          </p:cNvPr>
          <p:cNvPicPr>
            <a:picLocks noChangeAspect="1"/>
          </p:cNvPicPr>
          <p:nvPr/>
        </p:nvPicPr>
        <p:blipFill>
          <a:blip r:embed="rId3"/>
          <a:stretch>
            <a:fillRect/>
          </a:stretch>
        </p:blipFill>
        <p:spPr>
          <a:xfrm>
            <a:off x="7696262" y="430956"/>
            <a:ext cx="3713266" cy="1190791"/>
          </a:xfrm>
          <a:prstGeom prst="rect">
            <a:avLst/>
          </a:prstGeom>
        </p:spPr>
      </p:pic>
      <p:pic>
        <p:nvPicPr>
          <p:cNvPr id="7" name="Picture 6">
            <a:extLst>
              <a:ext uri="{FF2B5EF4-FFF2-40B4-BE49-F238E27FC236}">
                <a16:creationId xmlns:a16="http://schemas.microsoft.com/office/drawing/2014/main" id="{3F1BAAB0-398B-B03A-78FB-35F5CB35610F}"/>
              </a:ext>
            </a:extLst>
          </p:cNvPr>
          <p:cNvPicPr>
            <a:picLocks noChangeAspect="1"/>
          </p:cNvPicPr>
          <p:nvPr/>
        </p:nvPicPr>
        <p:blipFill>
          <a:blip r:embed="rId4"/>
          <a:stretch>
            <a:fillRect/>
          </a:stretch>
        </p:blipFill>
        <p:spPr>
          <a:xfrm>
            <a:off x="0" y="2631698"/>
            <a:ext cx="7582958" cy="1343212"/>
          </a:xfrm>
          <a:prstGeom prst="rect">
            <a:avLst/>
          </a:prstGeom>
        </p:spPr>
      </p:pic>
      <p:pic>
        <p:nvPicPr>
          <p:cNvPr id="9" name="Picture 8">
            <a:extLst>
              <a:ext uri="{FF2B5EF4-FFF2-40B4-BE49-F238E27FC236}">
                <a16:creationId xmlns:a16="http://schemas.microsoft.com/office/drawing/2014/main" id="{4E8FD94C-3EC5-FB98-98AF-844BC82CE8F6}"/>
              </a:ext>
            </a:extLst>
          </p:cNvPr>
          <p:cNvPicPr>
            <a:picLocks noChangeAspect="1"/>
          </p:cNvPicPr>
          <p:nvPr/>
        </p:nvPicPr>
        <p:blipFill>
          <a:blip r:embed="rId5"/>
          <a:stretch>
            <a:fillRect/>
          </a:stretch>
        </p:blipFill>
        <p:spPr>
          <a:xfrm>
            <a:off x="7696262" y="2631698"/>
            <a:ext cx="4067743" cy="3362794"/>
          </a:xfrm>
          <a:prstGeom prst="rect">
            <a:avLst/>
          </a:prstGeom>
        </p:spPr>
      </p:pic>
      <p:sp>
        <p:nvSpPr>
          <p:cNvPr id="10" name="TextBox 9">
            <a:extLst>
              <a:ext uri="{FF2B5EF4-FFF2-40B4-BE49-F238E27FC236}">
                <a16:creationId xmlns:a16="http://schemas.microsoft.com/office/drawing/2014/main" id="{46E94430-CA86-77CF-DD85-D64FF628EEFD}"/>
              </a:ext>
            </a:extLst>
          </p:cNvPr>
          <p:cNvSpPr txBox="1"/>
          <p:nvPr/>
        </p:nvSpPr>
        <p:spPr>
          <a:xfrm>
            <a:off x="0" y="61624"/>
            <a:ext cx="4408227" cy="369332"/>
          </a:xfrm>
          <a:prstGeom prst="rect">
            <a:avLst/>
          </a:prstGeom>
          <a:noFill/>
        </p:spPr>
        <p:txBody>
          <a:bodyPr wrap="square" rtlCol="0">
            <a:spAutoFit/>
          </a:bodyPr>
          <a:lstStyle/>
          <a:p>
            <a:r>
              <a:rPr lang="en-US" dirty="0"/>
              <a:t>KPI 2 :- Stage Funnel by Revenue </a:t>
            </a:r>
            <a:endParaRPr lang="en-IN" dirty="0"/>
          </a:p>
        </p:txBody>
      </p:sp>
      <p:sp>
        <p:nvSpPr>
          <p:cNvPr id="11" name="TextBox 10">
            <a:extLst>
              <a:ext uri="{FF2B5EF4-FFF2-40B4-BE49-F238E27FC236}">
                <a16:creationId xmlns:a16="http://schemas.microsoft.com/office/drawing/2014/main" id="{5F44DD00-ACA3-7511-882F-0C552D7312D7}"/>
              </a:ext>
            </a:extLst>
          </p:cNvPr>
          <p:cNvSpPr txBox="1"/>
          <p:nvPr/>
        </p:nvSpPr>
        <p:spPr>
          <a:xfrm>
            <a:off x="-1" y="1942056"/>
            <a:ext cx="4408227" cy="369332"/>
          </a:xfrm>
          <a:prstGeom prst="rect">
            <a:avLst/>
          </a:prstGeom>
          <a:noFill/>
        </p:spPr>
        <p:txBody>
          <a:bodyPr wrap="square" rtlCol="0">
            <a:spAutoFit/>
          </a:bodyPr>
          <a:lstStyle/>
          <a:p>
            <a:r>
              <a:rPr lang="en-US" dirty="0"/>
              <a:t>KPI 2 :- No. of Meeting by Account Exec</a:t>
            </a:r>
            <a:endParaRPr lang="en-IN" dirty="0"/>
          </a:p>
        </p:txBody>
      </p:sp>
      <p:sp>
        <p:nvSpPr>
          <p:cNvPr id="12" name="TextBox 11">
            <a:extLst>
              <a:ext uri="{FF2B5EF4-FFF2-40B4-BE49-F238E27FC236}">
                <a16:creationId xmlns:a16="http://schemas.microsoft.com/office/drawing/2014/main" id="{A90A0004-0989-52A0-974F-80F31DEBECBE}"/>
              </a:ext>
            </a:extLst>
          </p:cNvPr>
          <p:cNvSpPr txBox="1"/>
          <p:nvPr/>
        </p:nvSpPr>
        <p:spPr>
          <a:xfrm>
            <a:off x="7640596" y="61624"/>
            <a:ext cx="1528551" cy="369332"/>
          </a:xfrm>
          <a:prstGeom prst="rect">
            <a:avLst/>
          </a:prstGeom>
          <a:noFill/>
        </p:spPr>
        <p:txBody>
          <a:bodyPr wrap="square" rtlCol="0">
            <a:spAutoFit/>
          </a:bodyPr>
          <a:lstStyle/>
          <a:p>
            <a:r>
              <a:rPr lang="en-US" dirty="0"/>
              <a:t>Output</a:t>
            </a:r>
          </a:p>
        </p:txBody>
      </p:sp>
      <p:sp>
        <p:nvSpPr>
          <p:cNvPr id="13" name="TextBox 12">
            <a:extLst>
              <a:ext uri="{FF2B5EF4-FFF2-40B4-BE49-F238E27FC236}">
                <a16:creationId xmlns:a16="http://schemas.microsoft.com/office/drawing/2014/main" id="{E453C483-8F65-5328-71E3-26ACEA33C114}"/>
              </a:ext>
            </a:extLst>
          </p:cNvPr>
          <p:cNvSpPr txBox="1"/>
          <p:nvPr/>
        </p:nvSpPr>
        <p:spPr>
          <a:xfrm>
            <a:off x="7696262" y="1942056"/>
            <a:ext cx="1528551"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2150171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EB6D50-9022-72CF-5B8A-E7514C9F3492}"/>
              </a:ext>
            </a:extLst>
          </p:cNvPr>
          <p:cNvPicPr>
            <a:picLocks noChangeAspect="1"/>
          </p:cNvPicPr>
          <p:nvPr/>
        </p:nvPicPr>
        <p:blipFill>
          <a:blip r:embed="rId2"/>
          <a:stretch>
            <a:fillRect/>
          </a:stretch>
        </p:blipFill>
        <p:spPr>
          <a:xfrm>
            <a:off x="0" y="611928"/>
            <a:ext cx="7497221" cy="2276793"/>
          </a:xfrm>
          <a:prstGeom prst="rect">
            <a:avLst/>
          </a:prstGeom>
        </p:spPr>
      </p:pic>
      <p:pic>
        <p:nvPicPr>
          <p:cNvPr id="5" name="Picture 4">
            <a:extLst>
              <a:ext uri="{FF2B5EF4-FFF2-40B4-BE49-F238E27FC236}">
                <a16:creationId xmlns:a16="http://schemas.microsoft.com/office/drawing/2014/main" id="{A01C9B99-3C1F-42B5-03DC-E6D1CE21D624}"/>
              </a:ext>
            </a:extLst>
          </p:cNvPr>
          <p:cNvPicPr>
            <a:picLocks noChangeAspect="1"/>
          </p:cNvPicPr>
          <p:nvPr/>
        </p:nvPicPr>
        <p:blipFill>
          <a:blip r:embed="rId3"/>
          <a:stretch>
            <a:fillRect/>
          </a:stretch>
        </p:blipFill>
        <p:spPr>
          <a:xfrm>
            <a:off x="7811783" y="611928"/>
            <a:ext cx="4020111" cy="1771897"/>
          </a:xfrm>
          <a:prstGeom prst="rect">
            <a:avLst/>
          </a:prstGeom>
        </p:spPr>
      </p:pic>
      <p:pic>
        <p:nvPicPr>
          <p:cNvPr id="7" name="Picture 6">
            <a:extLst>
              <a:ext uri="{FF2B5EF4-FFF2-40B4-BE49-F238E27FC236}">
                <a16:creationId xmlns:a16="http://schemas.microsoft.com/office/drawing/2014/main" id="{3CB7D93C-49D5-21DB-727E-C5A60549B8FD}"/>
              </a:ext>
            </a:extLst>
          </p:cNvPr>
          <p:cNvPicPr>
            <a:picLocks noChangeAspect="1"/>
          </p:cNvPicPr>
          <p:nvPr/>
        </p:nvPicPr>
        <p:blipFill>
          <a:blip r:embed="rId4"/>
          <a:stretch>
            <a:fillRect/>
          </a:stretch>
        </p:blipFill>
        <p:spPr>
          <a:xfrm>
            <a:off x="0" y="4474176"/>
            <a:ext cx="7165075" cy="968485"/>
          </a:xfrm>
          <a:prstGeom prst="rect">
            <a:avLst/>
          </a:prstGeom>
        </p:spPr>
      </p:pic>
      <p:pic>
        <p:nvPicPr>
          <p:cNvPr id="9" name="Picture 8">
            <a:extLst>
              <a:ext uri="{FF2B5EF4-FFF2-40B4-BE49-F238E27FC236}">
                <a16:creationId xmlns:a16="http://schemas.microsoft.com/office/drawing/2014/main" id="{B13CC46F-1C97-943D-3EC1-5C152CADF028}"/>
              </a:ext>
            </a:extLst>
          </p:cNvPr>
          <p:cNvPicPr>
            <a:picLocks noChangeAspect="1"/>
          </p:cNvPicPr>
          <p:nvPr/>
        </p:nvPicPr>
        <p:blipFill>
          <a:blip r:embed="rId5"/>
          <a:stretch>
            <a:fillRect/>
          </a:stretch>
        </p:blipFill>
        <p:spPr>
          <a:xfrm>
            <a:off x="7783774" y="4037756"/>
            <a:ext cx="3696216" cy="2114845"/>
          </a:xfrm>
          <a:prstGeom prst="rect">
            <a:avLst/>
          </a:prstGeom>
        </p:spPr>
      </p:pic>
      <p:sp>
        <p:nvSpPr>
          <p:cNvPr id="10" name="TextBox 9">
            <a:extLst>
              <a:ext uri="{FF2B5EF4-FFF2-40B4-BE49-F238E27FC236}">
                <a16:creationId xmlns:a16="http://schemas.microsoft.com/office/drawing/2014/main" id="{E3296332-F81E-E25C-7C1D-03CA79E6627F}"/>
              </a:ext>
            </a:extLst>
          </p:cNvPr>
          <p:cNvSpPr txBox="1"/>
          <p:nvPr/>
        </p:nvSpPr>
        <p:spPr>
          <a:xfrm>
            <a:off x="0" y="242596"/>
            <a:ext cx="4408227" cy="369332"/>
          </a:xfrm>
          <a:prstGeom prst="rect">
            <a:avLst/>
          </a:prstGeom>
          <a:noFill/>
        </p:spPr>
        <p:txBody>
          <a:bodyPr wrap="square" rtlCol="0">
            <a:spAutoFit/>
          </a:bodyPr>
          <a:lstStyle/>
          <a:p>
            <a:r>
              <a:rPr lang="en-US" dirty="0"/>
              <a:t>KPI 6 :- Top Open Opportunity</a:t>
            </a:r>
            <a:endParaRPr lang="en-IN" dirty="0"/>
          </a:p>
        </p:txBody>
      </p:sp>
      <p:sp>
        <p:nvSpPr>
          <p:cNvPr id="11" name="TextBox 10">
            <a:extLst>
              <a:ext uri="{FF2B5EF4-FFF2-40B4-BE49-F238E27FC236}">
                <a16:creationId xmlns:a16="http://schemas.microsoft.com/office/drawing/2014/main" id="{564762C4-6093-15CB-E45D-091E37549335}"/>
              </a:ext>
            </a:extLst>
          </p:cNvPr>
          <p:cNvSpPr txBox="1"/>
          <p:nvPr/>
        </p:nvSpPr>
        <p:spPr>
          <a:xfrm>
            <a:off x="-122831" y="3429000"/>
            <a:ext cx="4408227" cy="369332"/>
          </a:xfrm>
          <a:prstGeom prst="rect">
            <a:avLst/>
          </a:prstGeom>
          <a:noFill/>
        </p:spPr>
        <p:txBody>
          <a:bodyPr wrap="square" rtlCol="0">
            <a:spAutoFit/>
          </a:bodyPr>
          <a:lstStyle/>
          <a:p>
            <a:r>
              <a:rPr lang="en-US" dirty="0"/>
              <a:t>Opportunity Product Distribution</a:t>
            </a:r>
            <a:endParaRPr lang="en-IN" dirty="0"/>
          </a:p>
        </p:txBody>
      </p:sp>
      <p:sp>
        <p:nvSpPr>
          <p:cNvPr id="12" name="TextBox 11">
            <a:extLst>
              <a:ext uri="{FF2B5EF4-FFF2-40B4-BE49-F238E27FC236}">
                <a16:creationId xmlns:a16="http://schemas.microsoft.com/office/drawing/2014/main" id="{9EC91456-09B1-4879-8E93-5637DE38A68D}"/>
              </a:ext>
            </a:extLst>
          </p:cNvPr>
          <p:cNvSpPr txBox="1"/>
          <p:nvPr/>
        </p:nvSpPr>
        <p:spPr>
          <a:xfrm>
            <a:off x="7783775" y="242596"/>
            <a:ext cx="1528551" cy="369332"/>
          </a:xfrm>
          <a:prstGeom prst="rect">
            <a:avLst/>
          </a:prstGeom>
          <a:noFill/>
        </p:spPr>
        <p:txBody>
          <a:bodyPr wrap="square" rtlCol="0">
            <a:spAutoFit/>
          </a:bodyPr>
          <a:lstStyle/>
          <a:p>
            <a:r>
              <a:rPr lang="en-US" dirty="0"/>
              <a:t>Output</a:t>
            </a:r>
          </a:p>
        </p:txBody>
      </p:sp>
      <p:sp>
        <p:nvSpPr>
          <p:cNvPr id="13" name="TextBox 12">
            <a:extLst>
              <a:ext uri="{FF2B5EF4-FFF2-40B4-BE49-F238E27FC236}">
                <a16:creationId xmlns:a16="http://schemas.microsoft.com/office/drawing/2014/main" id="{C5CBD60F-F55E-34E0-D407-602B3D71AFDC}"/>
              </a:ext>
            </a:extLst>
          </p:cNvPr>
          <p:cNvSpPr txBox="1"/>
          <p:nvPr/>
        </p:nvSpPr>
        <p:spPr>
          <a:xfrm>
            <a:off x="7783774" y="3429000"/>
            <a:ext cx="1528551"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079327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56E8E-E5C7-D149-7659-72D7ABC6C25D}"/>
              </a:ext>
            </a:extLst>
          </p:cNvPr>
          <p:cNvSpPr>
            <a:spLocks noGrp="1"/>
          </p:cNvSpPr>
          <p:nvPr>
            <p:ph type="title"/>
          </p:nvPr>
        </p:nvSpPr>
        <p:spPr>
          <a:xfrm>
            <a:off x="838200" y="365126"/>
            <a:ext cx="10515600" cy="603866"/>
          </a:xfrm>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Power BI Dashboard</a:t>
            </a:r>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DA6F388-0920-8CDA-3488-2AC2FCEB37C9}"/>
              </a:ext>
            </a:extLst>
          </p:cNvPr>
          <p:cNvPicPr>
            <a:picLocks noChangeAspect="1"/>
          </p:cNvPicPr>
          <p:nvPr/>
        </p:nvPicPr>
        <p:blipFill>
          <a:blip r:embed="rId2"/>
          <a:stretch>
            <a:fillRect/>
          </a:stretch>
        </p:blipFill>
        <p:spPr>
          <a:xfrm>
            <a:off x="0" y="968992"/>
            <a:ext cx="12192000" cy="5889008"/>
          </a:xfrm>
          <a:prstGeom prst="rect">
            <a:avLst/>
          </a:prstGeom>
        </p:spPr>
      </p:pic>
    </p:spTree>
    <p:extLst>
      <p:ext uri="{BB962C8B-B14F-4D97-AF65-F5344CB8AC3E}">
        <p14:creationId xmlns:p14="http://schemas.microsoft.com/office/powerpoint/2010/main" val="1983563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3E49E-A1B2-9440-5D10-D182F1566013}"/>
              </a:ext>
            </a:extLst>
          </p:cNvPr>
          <p:cNvSpPr>
            <a:spLocks noGrp="1"/>
          </p:cNvSpPr>
          <p:nvPr>
            <p:ph type="title"/>
          </p:nvPr>
        </p:nvSpPr>
        <p:spPr>
          <a:xfrm>
            <a:off x="838200" y="365126"/>
            <a:ext cx="10515600" cy="603866"/>
          </a:xfrm>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Tableau Dashboard (1)</a:t>
            </a:r>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4ED3E4D-38A9-8767-FE5A-17F484A29CAF}"/>
              </a:ext>
            </a:extLst>
          </p:cNvPr>
          <p:cNvPicPr>
            <a:picLocks noChangeAspect="1"/>
          </p:cNvPicPr>
          <p:nvPr/>
        </p:nvPicPr>
        <p:blipFill>
          <a:blip r:embed="rId2"/>
          <a:stretch>
            <a:fillRect/>
          </a:stretch>
        </p:blipFill>
        <p:spPr>
          <a:xfrm>
            <a:off x="0" y="968992"/>
            <a:ext cx="12192000" cy="5889008"/>
          </a:xfrm>
          <a:prstGeom prst="rect">
            <a:avLst/>
          </a:prstGeom>
        </p:spPr>
      </p:pic>
    </p:spTree>
    <p:extLst>
      <p:ext uri="{BB962C8B-B14F-4D97-AF65-F5344CB8AC3E}">
        <p14:creationId xmlns:p14="http://schemas.microsoft.com/office/powerpoint/2010/main" val="3389686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AB72-FF2D-B10F-4560-2A13399EA506}"/>
              </a:ext>
            </a:extLst>
          </p:cNvPr>
          <p:cNvSpPr>
            <a:spLocks noGrp="1"/>
          </p:cNvSpPr>
          <p:nvPr>
            <p:ph type="title"/>
          </p:nvPr>
        </p:nvSpPr>
        <p:spPr>
          <a:xfrm>
            <a:off x="838200" y="365126"/>
            <a:ext cx="10515600" cy="603866"/>
          </a:xfrm>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Tableau Dashboard (2)</a:t>
            </a:r>
            <a:endParaRPr lang="en-IN" sz="4000" dirty="0"/>
          </a:p>
        </p:txBody>
      </p:sp>
      <p:pic>
        <p:nvPicPr>
          <p:cNvPr id="4" name="Picture 3">
            <a:extLst>
              <a:ext uri="{FF2B5EF4-FFF2-40B4-BE49-F238E27FC236}">
                <a16:creationId xmlns:a16="http://schemas.microsoft.com/office/drawing/2014/main" id="{08AD062C-1EF5-BAE0-8938-D36D2DB323AB}"/>
              </a:ext>
            </a:extLst>
          </p:cNvPr>
          <p:cNvPicPr>
            <a:picLocks noChangeAspect="1"/>
          </p:cNvPicPr>
          <p:nvPr/>
        </p:nvPicPr>
        <p:blipFill>
          <a:blip r:embed="rId2"/>
          <a:stretch>
            <a:fillRect/>
          </a:stretch>
        </p:blipFill>
        <p:spPr>
          <a:xfrm>
            <a:off x="0" y="968992"/>
            <a:ext cx="12191999" cy="5889008"/>
          </a:xfrm>
          <a:prstGeom prst="rect">
            <a:avLst/>
          </a:prstGeom>
        </p:spPr>
      </p:pic>
    </p:spTree>
    <p:extLst>
      <p:ext uri="{BB962C8B-B14F-4D97-AF65-F5344CB8AC3E}">
        <p14:creationId xmlns:p14="http://schemas.microsoft.com/office/powerpoint/2010/main" val="1871316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5A038-07DB-C63D-03C4-94A541B1E62F}"/>
              </a:ext>
            </a:extLst>
          </p:cNvPr>
          <p:cNvSpPr>
            <a:spLocks noGrp="1"/>
          </p:cNvSpPr>
          <p:nvPr>
            <p:ph type="ctrTitle"/>
          </p:nvPr>
        </p:nvSpPr>
        <p:spPr>
          <a:xfrm>
            <a:off x="1524000" y="1122363"/>
            <a:ext cx="9144000" cy="856562"/>
          </a:xfrm>
        </p:spPr>
        <p:txBody>
          <a:bodyPr anchor="ctr">
            <a:normAutofit fontScale="90000"/>
          </a:bodyPr>
          <a:lstStyle/>
          <a:p>
            <a:pPr algn="ctr"/>
            <a:r>
              <a:rPr lang="en-US" dirty="0">
                <a:latin typeface="Times New Roman" panose="02020603050405020304" pitchFamily="18" charset="0"/>
                <a:cs typeface="Times New Roman" panose="02020603050405020304" pitchFamily="18" charset="0"/>
              </a:rPr>
              <a:t>Findings</a:t>
            </a:r>
            <a:endParaRPr lang="en-IN" dirty="0"/>
          </a:p>
        </p:txBody>
      </p:sp>
      <p:sp>
        <p:nvSpPr>
          <p:cNvPr id="3" name="Subtitle 2">
            <a:extLst>
              <a:ext uri="{FF2B5EF4-FFF2-40B4-BE49-F238E27FC236}">
                <a16:creationId xmlns:a16="http://schemas.microsoft.com/office/drawing/2014/main" id="{F07EAEDF-D9E1-ED8D-4F29-1D51B3C71E86}"/>
              </a:ext>
            </a:extLst>
          </p:cNvPr>
          <p:cNvSpPr>
            <a:spLocks noGrp="1"/>
          </p:cNvSpPr>
          <p:nvPr>
            <p:ph type="subTitle" idx="1"/>
          </p:nvPr>
        </p:nvSpPr>
        <p:spPr>
          <a:xfrm>
            <a:off x="0" y="2234916"/>
            <a:ext cx="12192000" cy="4435523"/>
          </a:xfrm>
        </p:spPr>
        <p:txBody>
          <a:bodyPr>
            <a:normAutofit/>
          </a:bodyPr>
          <a:lstStyle/>
          <a:p>
            <a:pPr algn="l"/>
            <a:r>
              <a:rPr lang="en-US" sz="2000" dirty="0">
                <a:latin typeface="Times New Roman" panose="02020603050405020304" pitchFamily="18" charset="0"/>
                <a:cs typeface="Times New Roman" panose="02020603050405020304" pitchFamily="18" charset="0"/>
              </a:rPr>
              <a:t>KPI 1 represents the no. of  invoice by an account executive </a:t>
            </a:r>
          </a:p>
          <a:p>
            <a:pPr algn="l"/>
            <a:r>
              <a:rPr lang="en-US" sz="2000" dirty="0">
                <a:latin typeface="Times New Roman" panose="02020603050405020304" pitchFamily="18" charset="0"/>
                <a:cs typeface="Times New Roman" panose="02020603050405020304" pitchFamily="18" charset="0"/>
              </a:rPr>
              <a:t>KPI2 represents the yearly meeting count where in 2019 “3” meetings were conducted and in 2020 “31” meetings were conducted</a:t>
            </a:r>
          </a:p>
          <a:p>
            <a:pPr algn="l"/>
            <a:r>
              <a:rPr lang="en-US" sz="2000" dirty="0">
                <a:latin typeface="Times New Roman" panose="02020603050405020304" pitchFamily="18" charset="0"/>
                <a:cs typeface="Times New Roman" panose="02020603050405020304" pitchFamily="18" charset="0"/>
              </a:rPr>
              <a:t>KPI 3 represents the </a:t>
            </a:r>
            <a:r>
              <a:rPr lang="en-US" sz="2000" dirty="0"/>
              <a:t>Placed Achievement %, Invoice Achievement % in Cross sell, New &amp; Renewal </a:t>
            </a:r>
          </a:p>
          <a:p>
            <a:pPr algn="l"/>
            <a:r>
              <a:rPr lang="en-US" sz="2000" dirty="0">
                <a:latin typeface="Times New Roman" panose="02020603050405020304" pitchFamily="18" charset="0"/>
                <a:cs typeface="Times New Roman" panose="02020603050405020304" pitchFamily="18" charset="0"/>
              </a:rPr>
              <a:t>KPI 4 represents the Stage funnel by revenue</a:t>
            </a:r>
          </a:p>
          <a:p>
            <a:pPr algn="l"/>
            <a:r>
              <a:rPr lang="en-US" sz="2000" dirty="0">
                <a:latin typeface="Times New Roman" panose="02020603050405020304" pitchFamily="18" charset="0"/>
                <a:cs typeface="Times New Roman" panose="02020603050405020304" pitchFamily="18" charset="0"/>
              </a:rPr>
              <a:t>KPI 5 represents the No of meetings by an account executive</a:t>
            </a:r>
          </a:p>
          <a:p>
            <a:pPr algn="l"/>
            <a:r>
              <a:rPr lang="en-US" sz="2000" dirty="0">
                <a:latin typeface="Times New Roman" panose="02020603050405020304" pitchFamily="18" charset="0"/>
                <a:cs typeface="Times New Roman" panose="02020603050405020304" pitchFamily="18" charset="0"/>
              </a:rPr>
              <a:t>KPI 6 represents the Top open opportunities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1734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19867-47A4-E044-6EAD-75A111A8ED09}"/>
              </a:ext>
            </a:extLst>
          </p:cNvPr>
          <p:cNvSpPr>
            <a:spLocks noGrp="1"/>
          </p:cNvSpPr>
          <p:nvPr>
            <p:ph type="ctrTitle"/>
          </p:nvPr>
        </p:nvSpPr>
        <p:spPr>
          <a:xfrm>
            <a:off x="1524000" y="1122363"/>
            <a:ext cx="9144000" cy="692789"/>
          </a:xfrm>
        </p:spPr>
        <p:txBody>
          <a:bodyPr anchor="ctr">
            <a:normAutofit fontScale="90000"/>
          </a:bodyPr>
          <a:lstStyle/>
          <a:p>
            <a:pPr algn="ctr"/>
            <a:r>
              <a:rPr lang="en-US" dirty="0">
                <a:latin typeface="Times New Roman" panose="02020603050405020304" pitchFamily="18" charset="0"/>
                <a:cs typeface="Times New Roman" panose="02020603050405020304" pitchFamily="18" charset="0"/>
              </a:rPr>
              <a:t>Conclusion</a:t>
            </a:r>
            <a:endParaRPr lang="en-IN" dirty="0"/>
          </a:p>
        </p:txBody>
      </p:sp>
      <p:sp>
        <p:nvSpPr>
          <p:cNvPr id="3" name="Subtitle 2">
            <a:extLst>
              <a:ext uri="{FF2B5EF4-FFF2-40B4-BE49-F238E27FC236}">
                <a16:creationId xmlns:a16="http://schemas.microsoft.com/office/drawing/2014/main" id="{B7869D64-382C-F308-BFC6-5D773B989BB4}"/>
              </a:ext>
            </a:extLst>
          </p:cNvPr>
          <p:cNvSpPr>
            <a:spLocks noGrp="1"/>
          </p:cNvSpPr>
          <p:nvPr>
            <p:ph type="subTitle" idx="1"/>
          </p:nvPr>
        </p:nvSpPr>
        <p:spPr>
          <a:xfrm>
            <a:off x="0" y="1815152"/>
            <a:ext cx="12192000" cy="5042848"/>
          </a:xfrm>
        </p:spPr>
        <p:txBody>
          <a:bodyPr>
            <a:normAutofit/>
          </a:bodyPr>
          <a:lstStyle/>
          <a:p>
            <a:pPr algn="l"/>
            <a:r>
              <a:rPr lang="en-US" sz="2000" dirty="0">
                <a:latin typeface="Times New Roman" panose="02020603050405020304" pitchFamily="18" charset="0"/>
                <a:cs typeface="Times New Roman" panose="02020603050405020304" pitchFamily="18" charset="0"/>
              </a:rPr>
              <a:t>KPI 1 :- Mark has the least no. of invoices where as gilbert has the highest no of invoices by account executive</a:t>
            </a:r>
          </a:p>
          <a:p>
            <a:pPr algn="l"/>
            <a:r>
              <a:rPr lang="en-US" sz="2000" dirty="0">
                <a:latin typeface="Times New Roman" panose="02020603050405020304" pitchFamily="18" charset="0"/>
                <a:cs typeface="Times New Roman" panose="02020603050405020304" pitchFamily="18" charset="0"/>
              </a:rPr>
              <a:t>KPI 2 :- yearly meeting count where in 2019 “3” meetings were conducted and in 2020 “31” meetings were conducted</a:t>
            </a:r>
          </a:p>
          <a:p>
            <a:pPr algn="l"/>
            <a:r>
              <a:rPr lang="en-US" sz="2000" dirty="0">
                <a:latin typeface="Times New Roman" panose="02020603050405020304" pitchFamily="18" charset="0"/>
                <a:cs typeface="Times New Roman" panose="02020603050405020304" pitchFamily="18" charset="0"/>
              </a:rPr>
              <a:t>KPI 3 :- New Placed achievement is 17.37%,  New Invoice achievement is 4.21%, Cross sell Placed achievement is 59.08%,  Cross sell Invoice achievement is 15.14%, Renewal Placed achievement is 150.11%, Renewal Invoice achievement is 68.14%</a:t>
            </a:r>
          </a:p>
          <a:p>
            <a:pPr algn="l"/>
            <a:r>
              <a:rPr lang="en-US" sz="2000" dirty="0">
                <a:latin typeface="Times New Roman" panose="02020603050405020304" pitchFamily="18" charset="0"/>
                <a:cs typeface="Times New Roman" panose="02020603050405020304" pitchFamily="18" charset="0"/>
              </a:rPr>
              <a:t>KPI 4:- Propose solution has the least revenue (60000) where as Qualify opportunity has the highest revenue (5919500) </a:t>
            </a:r>
          </a:p>
          <a:p>
            <a:pPr algn="l"/>
            <a:r>
              <a:rPr lang="en-US" sz="2000" dirty="0">
                <a:latin typeface="Times New Roman" panose="02020603050405020304" pitchFamily="18" charset="0"/>
                <a:cs typeface="Times New Roman" panose="02020603050405020304" pitchFamily="18" charset="0"/>
              </a:rPr>
              <a:t>KPI 5 :- Mark has least no of meetings (2) where as Abhinav Shivam has the highest no of meetings (7) as an account executive</a:t>
            </a:r>
          </a:p>
          <a:p>
            <a:pPr algn="l"/>
            <a:r>
              <a:rPr lang="en-US" sz="2000" dirty="0">
                <a:latin typeface="Times New Roman" panose="02020603050405020304" pitchFamily="18" charset="0"/>
                <a:cs typeface="Times New Roman" panose="02020603050405020304" pitchFamily="18" charset="0"/>
              </a:rPr>
              <a:t>KPI 6 :-  Fire, EL group Mediclaim, DB mega Policy &amp; CVP GMC are the top 4 open opportunities</a:t>
            </a:r>
          </a:p>
          <a:p>
            <a:pPr algn="l"/>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1959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135</TotalTime>
  <Words>541</Words>
  <Application>Microsoft Office PowerPoint</Application>
  <PresentationFormat>Widescreen</PresentationFormat>
  <Paragraphs>71</Paragraphs>
  <Slides>16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Calibri Light</vt:lpstr>
      <vt:lpstr>Times New Roman</vt:lpstr>
      <vt:lpstr>Trebuchet MS</vt:lpstr>
      <vt:lpstr>Wingdings 3</vt:lpstr>
      <vt:lpstr>Office Theme</vt:lpstr>
      <vt:lpstr>Facet</vt:lpstr>
      <vt:lpstr>Insurance Analytics</vt:lpstr>
      <vt:lpstr>Index</vt:lpstr>
      <vt:lpstr>Introduction</vt:lpstr>
      <vt:lpstr>Objectives</vt:lpstr>
      <vt:lpstr>Tools used for Data analysis and their limitations</vt:lpstr>
      <vt:lpstr>Dashboard</vt:lpstr>
      <vt:lpstr>Excel Dashboard</vt:lpstr>
      <vt:lpstr>SQL Queries</vt:lpstr>
      <vt:lpstr>PowerPoint Presentation</vt:lpstr>
      <vt:lpstr>PowerPoint Presentation</vt:lpstr>
      <vt:lpstr>PowerPoint Presentation</vt:lpstr>
      <vt:lpstr>Power BI Dashboard</vt:lpstr>
      <vt:lpstr>Tableau Dashboard (1)</vt:lpstr>
      <vt:lpstr>Tableau Dashboard (2)</vt:lpstr>
      <vt:lpstr>Findings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Joshi</dc:creator>
  <cp:lastModifiedBy>Rohit Joshi</cp:lastModifiedBy>
  <cp:revision>5</cp:revision>
  <dcterms:created xsi:type="dcterms:W3CDTF">2025-08-22T12:12:31Z</dcterms:created>
  <dcterms:modified xsi:type="dcterms:W3CDTF">2025-08-28T11:27:41Z</dcterms:modified>
</cp:coreProperties>
</file>